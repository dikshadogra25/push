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Rule matching (Go)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1K rows</c:v>
                  </c:pt>
                  <c:pt idx="1">
                    <c:v>10K rows</c:v>
                  </c:pt>
                  <c:pt idx="2">
                    <c:v>100K rows</c:v>
                  </c:pt>
                  <c:pt idx="3">
                    <c:v>1M rows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9</c:v>
                </c:pt>
                <c:pt idx="2">
                  <c:v>88</c:v>
                </c:pt>
                <c:pt idx="3">
                  <c:v>850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Serialize + transport</c:v>
                </c:pt>
              </c:strCache>
            </c:strRef>
          </c:tx>
          <c:spPr>
            <a:solidFill>
              <a:srgbClr val="E885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1K rows</c:v>
                  </c:pt>
                  <c:pt idx="1">
                    <c:v>10K rows</c:v>
                  </c:pt>
                  <c:pt idx="2">
                    <c:v>100K rows</c:v>
                  </c:pt>
                  <c:pt idx="3">
                    <c:v>1M rows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55</c:v>
                </c:pt>
                <c:pt idx="2">
                  <c:v>640</c:v>
                </c:pt>
                <c:pt idx="3">
                  <c:v>7200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3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737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7378"/>
                    </a:solidFill>
                    <a:latin typeface="Arial"/>
                  </a:rPr>
                  <a:t>Time per call (illustrative, log-like)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6282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89720" y="777240"/>
            <a:ext cx="2331720" cy="868680"/>
          </a:xfrm>
          <a:prstGeom prst="roundRect">
            <a:avLst>
              <a:gd name="adj" fmla="val 12632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9189720" y="77724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89720" y="1828800"/>
            <a:ext cx="2331720" cy="868680"/>
          </a:xfrm>
          <a:prstGeom prst="roundRect">
            <a:avLst>
              <a:gd name="adj" fmla="val 12632"/>
            </a:avLst>
          </a:prstGeom>
          <a:solidFill>
            <a:srgbClr val="0F3A40"/>
          </a:solidFill>
          <a:ln w="15875">
            <a:solidFill>
              <a:srgbClr val="E88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89720" y="18288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E8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E8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351008" y="1645920"/>
            <a:ext cx="0" cy="182880"/>
          </a:xfrm>
          <a:prstGeom prst="line">
            <a:avLst/>
          </a:prstGeom>
          <a:noFill/>
          <a:ln w="19050">
            <a:solidFill>
              <a:srgbClr val="5C737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PLACEMENT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3504" y="228600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In-process pandas vs. an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out-of-process Go service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serialization boundary can cost more than the speed it buys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5212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9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matching work is cheap and the same in either language. 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is the variable.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rules, two homes for them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0FDFA"/>
          </a:solidFill>
          <a:ln/>
          <a:effectLst>
            <a:outerShdw sx="100000" sy="100000" kx="0" ky="0" algn="bl" rotWithShape="0" blurRad="88900" dist="38100" dir="5400000">
              <a:srgbClr val="0B2E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27632" y="211226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In-process pandas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runs inside the same Python program as the MCP tool.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already in memory as a DataFrame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= CPU work on data that is right there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copying, no format conversion, no transport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5212080"/>
            <a:ext cx="461772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matching only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DF3E7"/>
          </a:solidFill>
          <a:ln/>
          <a:effectLst>
            <a:outerShdw sx="100000" sy="100000" kx="0" ky="0" algn="bl" rotWithShape="0" blurRad="88900" dist="38100" dir="5400000">
              <a:srgbClr val="0B2E3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2103120"/>
            <a:ext cx="502920" cy="502920"/>
          </a:xfrm>
          <a:prstGeom prst="ellipse">
            <a:avLst/>
          </a:prstGeom>
          <a:solidFill>
            <a:srgbClr val="E8853A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251192" y="2112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Out-of-process Go service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83680" y="27432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is a separate Go process the MCP tool calls over HTTP/gRPC.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629400" y="35661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must leave the Python process and come back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are serialized, sent, parsed — then the reverse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Go's raw speed is real, but it is a small slice now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5212080"/>
            <a:ext cx="461772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matching + boundary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 is faster than Python" is true for the matching step — but that step was never the bottleneck.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one call actually does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In-process pandas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rows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566160" y="210312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all the wall-clock time is here, and it's small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Out-of-process Go service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E8853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404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107692" y="4274820"/>
            <a:ext cx="109728" cy="0"/>
          </a:xfrm>
          <a:prstGeom prst="line">
            <a:avLst/>
          </a:prstGeom>
          <a:noFill/>
          <a:ln w="15875">
            <a:solidFill>
              <a:srgbClr val="5C73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1992" y="384048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E8853A"/>
          </a:solidFill>
          <a:ln/>
        </p:spPr>
      </p:sp>
      <p:sp>
        <p:nvSpPr>
          <p:cNvPr id="13" name="Text 11"/>
          <p:cNvSpPr/>
          <p:nvPr/>
        </p:nvSpPr>
        <p:spPr>
          <a:xfrm>
            <a:off x="2221992" y="38404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89604" y="4274820"/>
            <a:ext cx="109728" cy="0"/>
          </a:xfrm>
          <a:prstGeom prst="line">
            <a:avLst/>
          </a:prstGeom>
          <a:noFill/>
          <a:ln w="15875">
            <a:solidFill>
              <a:srgbClr val="5C73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03904" y="384048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E8853A"/>
          </a:solidFill>
          <a:ln/>
        </p:spPr>
      </p:sp>
      <p:sp>
        <p:nvSpPr>
          <p:cNvPr id="16" name="Text 14"/>
          <p:cNvSpPr/>
          <p:nvPr/>
        </p:nvSpPr>
        <p:spPr>
          <a:xfrm>
            <a:off x="3803904" y="38404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Deserialize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271516" y="4274820"/>
            <a:ext cx="109728" cy="0"/>
          </a:xfrm>
          <a:prstGeom prst="line">
            <a:avLst/>
          </a:prstGeom>
          <a:noFill/>
          <a:ln w="15875">
            <a:solidFill>
              <a:srgbClr val="5C73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85816" y="384048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385816" y="38404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3428" y="4274820"/>
            <a:ext cx="109728" cy="0"/>
          </a:xfrm>
          <a:prstGeom prst="line">
            <a:avLst/>
          </a:prstGeom>
          <a:noFill/>
          <a:ln w="15875">
            <a:solidFill>
              <a:srgbClr val="5C73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67728" y="384048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E8853A"/>
          </a:solidFill>
          <a:ln/>
        </p:spPr>
      </p:sp>
      <p:sp>
        <p:nvSpPr>
          <p:cNvPr id="22" name="Text 20"/>
          <p:cNvSpPr/>
          <p:nvPr/>
        </p:nvSpPr>
        <p:spPr>
          <a:xfrm>
            <a:off x="6967728" y="38404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435340" y="4274820"/>
            <a:ext cx="109728" cy="0"/>
          </a:xfrm>
          <a:prstGeom prst="line">
            <a:avLst/>
          </a:prstGeom>
          <a:noFill/>
          <a:ln w="15875">
            <a:solidFill>
              <a:srgbClr val="5C73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49640" y="384048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E8853A"/>
          </a:solidFill>
          <a:ln/>
        </p:spPr>
      </p:sp>
      <p:sp>
        <p:nvSpPr>
          <p:cNvPr id="25" name="Text 23"/>
          <p:cNvSpPr/>
          <p:nvPr/>
        </p:nvSpPr>
        <p:spPr>
          <a:xfrm>
            <a:off x="8549640" y="38404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017252" y="4274820"/>
            <a:ext cx="109728" cy="0"/>
          </a:xfrm>
          <a:prstGeom prst="line">
            <a:avLst/>
          </a:prstGeom>
          <a:noFill/>
          <a:ln w="15875">
            <a:solidFill>
              <a:srgbClr val="5C737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31552" y="384048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E8853A"/>
          </a:solidFill>
          <a:ln/>
        </p:spPr>
      </p:sp>
      <p:sp>
        <p:nvSpPr>
          <p:cNvPr id="28" name="Text 26"/>
          <p:cNvSpPr/>
          <p:nvPr/>
        </p:nvSpPr>
        <p:spPr>
          <a:xfrm>
            <a:off x="10131552" y="38404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Deserialize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4800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wall-clock time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385816" y="4800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967728" y="4800600"/>
            <a:ext cx="4626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wall-clock time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0080" y="58978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swapped a fast operation for a faster one — then wrapped it in an expensive operation </a:t>
            </a:r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8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(serialize → send → deserialize, twice)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didn't exist before.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large result sets tip the balance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6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matching and serialization grow with row count — but serialization does far heavier work per row (allocating, escaping, parsing). At scale the boundary overwhelms the matching it was meant to speed up.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606040"/>
          <a:ext cx="6858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260604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F0FDFA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0" y="2724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30358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is negligible — nobody notices the boundary at a few hundred rows.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818120" y="3886200"/>
            <a:ext cx="3749040" cy="1280160"/>
          </a:xfrm>
          <a:prstGeom prst="roundRect">
            <a:avLst>
              <a:gd name="adj" fmla="val 5714"/>
            </a:avLst>
          </a:prstGeom>
          <a:solidFill>
            <a:srgbClr val="FDF3E7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40050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46720" y="431596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(boundary) dwarfs teal (matching). Net result can be slower end-to-end than staying in-process.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818120" y="530352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0B2E33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0" y="54223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pandas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46720" y="57332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the teal portion only. No amber, at any row count.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each option actually wins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0FDFA"/>
          </a:solidFill>
          <a:ln/>
          <a:effectLst>
            <a:outerShdw sx="100000" sy="100000" kx="0" ky="0" algn="bl" rotWithShape="0" blurRad="88900" dist="38100" dir="5400000">
              <a:srgbClr val="0B2E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it in-process (pandas)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6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consumers are all Python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6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is "make filtering faster" — not cross-language reuse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6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sets are large (per-row serialization would dominate)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6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determinism + easy unit tests next to the data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DF3E7"/>
          </a:solidFill>
          <a:ln/>
          <a:effectLst>
            <a:outerShdw sx="100000" sy="100000" kx="0" ky="0" algn="bl" rotWithShape="0" blurRad="88900" dist="38100" dir="5400000">
              <a:srgbClr val="0B2E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to a Go service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29400" y="278892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6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are genuinely cross-language (Go / TS agents)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6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one shared rule service, decoupled from any app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6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heavy enough that compute dominates transport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6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sets stay small, or you pay for reuse — not speed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6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 go cross-process, kill most of the overhead with a columnar/binary format </a:t>
            </a:r>
            <a:pPr indent="0" marL="0">
              <a:buNone/>
            </a:pPr>
            <a:r>
              <a:rPr lang="en-US" sz="14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(Apache Arrow)</a:t>
            </a:r>
            <a:pPr indent="0" marL="0">
              <a:buNone/>
            </a:pPr>
            <a:r>
              <a:rPr lang="en-US" sz="1400" i="1" dirty="0">
                <a:solidFill>
                  <a:srgbClr val="16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gRPC instead of HTTP + JSON.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9601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boundary is the cost — not the language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788920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0F3A40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3090672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3090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2688" y="3813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is cheap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4270248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scales linearly and stays small in either language. It was never your bottleneck.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80560" y="2788920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0F3A40"/>
          </a:solidFill>
          <a:ln/>
        </p:spPr>
      </p:sp>
      <p:sp>
        <p:nvSpPr>
          <p:cNvPr id="10" name="Shape 8"/>
          <p:cNvSpPr/>
          <p:nvPr/>
        </p:nvSpPr>
        <p:spPr>
          <a:xfrm>
            <a:off x="4773168" y="3090672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773168" y="3090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73168" y="3813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Serialization isn't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73168" y="4270248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 → send → deserialize, twice per call. Far heavier per row, and it grows with row count.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321040" y="2788920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0F3A40"/>
          </a:solidFill>
          <a:ln/>
        </p:spPr>
      </p:sp>
      <p:sp>
        <p:nvSpPr>
          <p:cNvPr id="15" name="Shape 13"/>
          <p:cNvSpPr/>
          <p:nvPr/>
        </p:nvSpPr>
        <p:spPr>
          <a:xfrm>
            <a:off x="8613648" y="3090672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8613648" y="3090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613648" y="3813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≠ speed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13648" y="4270248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buys cross-language reuse, not a faster filter. Pay for the boundary only when reuse is the goal.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FC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apply rules at the MCP/data boundary, keep the engine standalone, and adopt Go only for real cross-language consumers.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In-Process pandas vs. Go Rule Service</dc:title>
  <dc:subject>PptxGenJS Presentation</dc:subject>
  <dc:creator>DD</dc:creator>
  <cp:lastModifiedBy>DD</cp:lastModifiedBy>
  <cp:revision>1</cp:revision>
  <dcterms:created xsi:type="dcterms:W3CDTF">2026-06-17T10:27:33Z</dcterms:created>
  <dcterms:modified xsi:type="dcterms:W3CDTF">2026-06-17T10:27:33Z</dcterms:modified>
</cp:coreProperties>
</file>