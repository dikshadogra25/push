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oat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841248" cy="4701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488" y="1298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PLANNER  ·  WALKTHROUGH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157276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Schedule Planner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75488" y="2395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Schedule Balancing &amp; Allocation  —  Preview → Dashboard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75488" y="285292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planner that ingests raw physical e‑tags, aggregates them by location, auto‑balances Product A / B against a 150 MW cap, and links every tag to its purchase and sale deals — from draft to committed schedule.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3822192"/>
            <a:ext cx="2615184" cy="868680"/>
          </a:xfrm>
          <a:prstGeom prst="roundRect">
            <a:avLst>
              <a:gd name="adj" fmla="val 8421"/>
            </a:avLst>
          </a:prstGeom>
          <a:solidFill>
            <a:srgbClr val="24243E"/>
          </a:solidFill>
          <a:ln w="12700">
            <a:solidFill>
              <a:srgbClr val="3333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67512" y="4389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18688" y="3822192"/>
            <a:ext cx="2615184" cy="868680"/>
          </a:xfrm>
          <a:prstGeom prst="roundRect">
            <a:avLst>
              <a:gd name="adj" fmla="val 8421"/>
            </a:avLst>
          </a:prstGeom>
          <a:solidFill>
            <a:srgbClr val="24243E"/>
          </a:solidFill>
          <a:ln w="12700">
            <a:solidFill>
              <a:srgbClr val="3333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9856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 MW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3429000" y="4389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allocation cap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0176" y="3822192"/>
            <a:ext cx="2615184" cy="868680"/>
          </a:xfrm>
          <a:prstGeom prst="roundRect">
            <a:avLst>
              <a:gd name="adj" fmla="val 8421"/>
            </a:avLst>
          </a:prstGeom>
          <a:solidFill>
            <a:srgbClr val="24243E"/>
          </a:solidFill>
          <a:ln w="12700">
            <a:solidFill>
              <a:srgbClr val="3333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81344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B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HE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6190488" y="4389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profile per tag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confidential. Do not copy without permission from OATI.   © 2026 Open Access Technology International, Inc.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pic>
        <p:nvPicPr>
          <p:cNvPr id="3" name="Image 0" descr="img/ic_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8920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65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Preview Card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60704" y="758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glanceable entry point before the full planner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1261872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summary card that surfaces portfolio health at a glance — no need to open the full dashboard first.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88820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676656" y="1911096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Unscheduled Tags KPI —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365.0 avg MW across 12 draft tags with a live hourly sparkline.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92324"/>
            <a:ext cx="100584" cy="100584"/>
          </a:xfrm>
          <a:prstGeom prst="ellipse">
            <a:avLst/>
          </a:prstGeom>
          <a:solidFill>
            <a:srgbClr val="1A8A5A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" y="2514600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Per‑location table —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Prod A / Prod B / Total for every source (MISO_HUB, PJM_WEST, ERCOT_NORTH…).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195828"/>
            <a:ext cx="100584" cy="10058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" y="3118104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Ingested —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line rolls up every location — 365.0 MW.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653028"/>
            <a:ext cx="100584" cy="100584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4" name="Text 11"/>
          <p:cNvSpPr/>
          <p:nvPr/>
        </p:nvSpPr>
        <p:spPr>
          <a:xfrm>
            <a:off x="676656" y="3575304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 —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click launches the full Schedule Planner to act.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169664"/>
            <a:ext cx="4892040" cy="603504"/>
          </a:xfrm>
          <a:prstGeom prst="roundRect">
            <a:avLst>
              <a:gd name="adj" fmla="val 10606"/>
            </a:avLst>
          </a:prstGeom>
          <a:solidFill>
            <a:srgbClr val="E8F5F8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" y="4169664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imbalance early — you see what’s unscheduled before diving into the workflow.</a:t>
            </a:r>
            <a:endParaRPr lang="en-US" sz="1100" dirty="0"/>
          </a:p>
        </p:txBody>
      </p:sp>
      <p:pic>
        <p:nvPicPr>
          <p:cNvPr id="17" name="Image 1" descr="img/pr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03888"/>
            <a:ext cx="3063240" cy="303524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pic>
        <p:nvPicPr>
          <p:cNvPr id="18" name="Image 2" descr="img/oati_logo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566928" cy="31681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confidential. Do not copy without permission from OATI.   © 2026 Open Access Technology International, Inc.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pic>
        <p:nvPicPr>
          <p:cNvPr id="3" name="Image 0" descr="img/ic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8920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65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— The KPI Top Panel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60704" y="758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Real‑time portfolio health, always on screen</a:t>
            </a:r>
            <a:endParaRPr lang="en-US" sz="1250" dirty="0"/>
          </a:p>
        </p:txBody>
      </p:sp>
      <p:pic>
        <p:nvPicPr>
          <p:cNvPr id="6" name="Image 1" descr="img/top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0432"/>
            <a:ext cx="8229600" cy="1484172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457200" y="2999232"/>
            <a:ext cx="200253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" y="31089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UNSCHEDULED TAGS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94360" y="3383280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177.3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MW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94360" y="3858768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draft tags awaiting a home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560320" y="2999232"/>
            <a:ext cx="200253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697480" y="31089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 ALLOCATION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697480" y="3383280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148.0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150 MW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2697480" y="3858768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toward the global cap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2999232"/>
            <a:ext cx="200253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00600" y="31089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 SPILLOVER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800600" y="3383280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MW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4800600" y="3858768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beyond the 150 MW cap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766560" y="2999232"/>
            <a:ext cx="2002536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903720" y="31089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903720" y="3383280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pPr algn="l" indent="0" marL="0">
              <a:buNone/>
            </a:pP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903720" y="3858768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/ sale mismatch, flagged live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date + </a:t>
            </a:r>
            <a:pPr algn="l" indent="0" marL="0">
              <a:buNone/>
            </a:pPr>
            <a:r>
              <a:rPr lang="en-US" sz="1150" b="1" i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Schedule Plan</a:t>
            </a:r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single action that finalizes the whole plan.</a:t>
            </a:r>
            <a:endParaRPr lang="en-US" sz="1150" dirty="0"/>
          </a:p>
        </p:txBody>
      </p:sp>
      <p:pic>
        <p:nvPicPr>
          <p:cNvPr id="24" name="Image 2" descr="img/oati_logo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566928" cy="31681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confidential. Do not copy without permission from OATI.   © 2026 Open Access Technology International, Inc.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pic>
        <p:nvPicPr>
          <p:cNvPr id="3" name="Image 0" descr="img/ic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8920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65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Purchase Deals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60704" y="758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 schedule, then see the deals that balance it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207008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353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E7490"/>
          </a:solidFill>
          <a:ln/>
        </p:spPr>
      </p:sp>
      <p:pic>
        <p:nvPicPr>
          <p:cNvPr id="8" name="Image 1" descr="img/ic_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1421892"/>
            <a:ext cx="173736" cy="1737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3350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TAB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03504" y="1824228"/>
            <a:ext cx="100584" cy="10058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174650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Locations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filter by All / Draft / Accepted / Committed.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" y="2226564"/>
            <a:ext cx="100584" cy="100584"/>
          </a:xfrm>
          <a:prstGeom prst="ellipse">
            <a:avLst/>
          </a:prstGeom>
          <a:solidFill>
            <a:srgbClr val="1A8A5A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21488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Details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chart per tag with inline Accept / Reject.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" y="2628900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255117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Audits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Net Balance, Allocation, Cap, Energy Flow: Passed.</a:t>
            </a:r>
            <a:endParaRPr lang="en-US" sz="1100" dirty="0"/>
          </a:p>
        </p:txBody>
      </p:sp>
      <p:pic>
        <p:nvPicPr>
          <p:cNvPr id="16" name="Image 2" descr="img/over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71" y="2999232"/>
            <a:ext cx="3270418" cy="164592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sp>
        <p:nvSpPr>
          <p:cNvPr id="17" name="Shape 12"/>
          <p:cNvSpPr/>
          <p:nvPr/>
        </p:nvSpPr>
        <p:spPr>
          <a:xfrm>
            <a:off x="4663440" y="1207008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09744" y="1353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67E22"/>
          </a:solidFill>
          <a:ln/>
        </p:spPr>
      </p:sp>
      <p:pic>
        <p:nvPicPr>
          <p:cNvPr id="19" name="Image 3" descr="img/ic_b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1421892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93792" y="13350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DEALS TAB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809744" y="1824228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16"/>
          <p:cNvSpPr/>
          <p:nvPr/>
        </p:nvSpPr>
        <p:spPr>
          <a:xfrm>
            <a:off x="5029200" y="174650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Auto‑generated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deals that balance physical e‑tag intake by location.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809744" y="2226564"/>
            <a:ext cx="100584" cy="10058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0" y="21488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ledger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Deal #, Counterparty, Market/Zone, Contract, Volume.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09744" y="2628900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0"/>
          <p:cNvSpPr/>
          <p:nvPr/>
        </p:nvSpPr>
        <p:spPr>
          <a:xfrm>
            <a:off x="5029200" y="255117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 DRAFT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e.g. ACS Energy / BPA − 1,542 MW.</a:t>
            </a:r>
            <a:endParaRPr lang="en-US" sz="1100" dirty="0"/>
          </a:p>
        </p:txBody>
      </p:sp>
      <p:pic>
        <p:nvPicPr>
          <p:cNvPr id="27" name="Image 4" descr="img/purch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999232"/>
            <a:ext cx="3730752" cy="1625657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pic>
        <p:nvPicPr>
          <p:cNvPr id="28" name="Image 5" descr="img/oati_logo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274320"/>
            <a:ext cx="566928" cy="31681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confidential. Do not copy without permission from OATI.   © 2026 Open Access Technology International, Inc.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A8A5A"/>
          </a:solidFill>
          <a:ln/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pic>
        <p:nvPicPr>
          <p:cNvPr id="3" name="Image 0" descr="img/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8920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65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Unscheduled Tags &amp; Location Aggregation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60704" y="758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physical tags to ranked, allocated buckets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207008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353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67E22"/>
          </a:solidFill>
          <a:ln/>
        </p:spPr>
      </p:sp>
      <p:pic>
        <p:nvPicPr>
          <p:cNvPr id="8" name="Image 1" descr="img/ic_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1421892"/>
            <a:ext cx="173736" cy="1737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3350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UNSCHEDULED TAGS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03504" y="1824228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174650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E‑Tags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raw physical tags for the trade date.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" y="2226564"/>
            <a:ext cx="100584" cy="10058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21488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Tag Code, Schedule #, Source/Sink, POR/POD, Volume, Path.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" y="2628900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255117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UNSCHEDULED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click a row to view linkages &amp; manage details.</a:t>
            </a:r>
            <a:endParaRPr lang="en-US" sz="1100" dirty="0"/>
          </a:p>
        </p:txBody>
      </p:sp>
      <p:pic>
        <p:nvPicPr>
          <p:cNvPr id="16" name="Image 2" descr="img/unsch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999232"/>
            <a:ext cx="3730752" cy="1604364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sp>
        <p:nvSpPr>
          <p:cNvPr id="17" name="Shape 12"/>
          <p:cNvSpPr/>
          <p:nvPr/>
        </p:nvSpPr>
        <p:spPr>
          <a:xfrm>
            <a:off x="4663440" y="1207008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09744" y="1353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A8A5A"/>
          </a:solidFill>
          <a:ln/>
        </p:spPr>
      </p:sp>
      <p:pic>
        <p:nvPicPr>
          <p:cNvPr id="19" name="Image 3" descr="img/ic_ba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1421892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93792" y="13350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AGGREGATION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809744" y="1824228"/>
            <a:ext cx="100584" cy="100584"/>
          </a:xfrm>
          <a:prstGeom prst="ellipse">
            <a:avLst/>
          </a:prstGeom>
          <a:solidFill>
            <a:srgbClr val="1A8A5A"/>
          </a:solidFill>
          <a:ln/>
        </p:spPr>
      </p:sp>
      <p:sp>
        <p:nvSpPr>
          <p:cNvPr id="22" name="Text 16"/>
          <p:cNvSpPr/>
          <p:nvPr/>
        </p:nvSpPr>
        <p:spPr>
          <a:xfrm>
            <a:off x="5029200" y="174650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volume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a ✓ / ⚠ audit on every location.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809744" y="2226564"/>
            <a:ext cx="100584" cy="10058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0" y="21488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caps at 150 MW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source; Product B absorbs the spillover.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09744" y="2628900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0"/>
          <p:cNvSpPr/>
          <p:nvPr/>
        </p:nvSpPr>
        <p:spPr>
          <a:xfrm>
            <a:off x="5029200" y="255117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Stacked Profile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HE 1–24, with contributing e‑tags per location.</a:t>
            </a:r>
            <a:endParaRPr lang="en-US" sz="1100" dirty="0"/>
          </a:p>
        </p:txBody>
      </p:sp>
      <p:pic>
        <p:nvPicPr>
          <p:cNvPr id="27" name="Image 4" descr="img/locag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999232"/>
            <a:ext cx="3730752" cy="1489878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pic>
        <p:nvPicPr>
          <p:cNvPr id="28" name="Image 5" descr="img/oati_logo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274320"/>
            <a:ext cx="566928" cy="31681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confidential. Do not copy without permission from OATI.   © 2026 Open Access Technology International, Inc.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A8A5A"/>
          </a:solidFill>
          <a:ln/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pic>
        <p:nvPicPr>
          <p:cNvPr id="3" name="Image 0" descr="img/ic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8920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65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Deal Schedule Plan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60704" y="758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physical tags, purchase deals &amp; sale deals converge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421892"/>
            <a:ext cx="100584" cy="100584"/>
          </a:xfrm>
          <a:prstGeom prst="ellipse">
            <a:avLst/>
          </a:prstGeom>
          <a:solidFill>
            <a:srgbClr val="1A8A5A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" y="134416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every object —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physical e‑tag ↔ balancing purchase ↔ matching sale.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025396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194767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rows —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PURCHASE (−MW) and a SALE (+MW) share one schedule.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28900"/>
            <a:ext cx="100584" cy="10058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255117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columns —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Schedule #, Tag Code, Source→Sink Path, Type, Deal #, Product, Volume.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287268"/>
            <a:ext cx="100584" cy="100584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" y="3209544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actions —</a:t>
            </a:r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/ Reject Selected; each row Pending until actioned.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877056"/>
            <a:ext cx="3703320" cy="713232"/>
          </a:xfrm>
          <a:prstGeom prst="roundRect">
            <a:avLst>
              <a:gd name="adj" fmla="val 8974"/>
            </a:avLst>
          </a:prstGeom>
          <a:solidFill>
            <a:srgbClr val="EAF7F1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" y="38770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 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auditable chain from a raw tag to committed buy / sell positions.</a:t>
            </a:r>
            <a:endParaRPr lang="en-US" sz="1100" dirty="0"/>
          </a:p>
        </p:txBody>
      </p:sp>
      <p:pic>
        <p:nvPicPr>
          <p:cNvPr id="16" name="Image 1" descr="img/fdsp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82106"/>
            <a:ext cx="4370832" cy="1633084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pic>
        <p:nvPicPr>
          <p:cNvPr id="17" name="Image 2" descr="img/oati_logo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566928" cy="31681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confidential. Do not copy without permission from OATI.   © 2026 Open Access Technology International, Inc.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A8A5A"/>
          </a:solidFill>
          <a:ln/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pic>
        <p:nvPicPr>
          <p:cNvPr id="3" name="Image 0" descr="img/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8920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65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Deal Schedule Plan — Detail View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60704" y="758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any schedule into a full profile grid</a:t>
            </a:r>
            <a:endParaRPr lang="en-US" sz="1250" dirty="0"/>
          </a:p>
        </p:txBody>
      </p:sp>
      <p:pic>
        <p:nvPicPr>
          <p:cNvPr id="6" name="Image 1" descr="img/detail_p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8229600" cy="1901063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457200" y="3401568"/>
            <a:ext cx="26974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03504" y="3511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TERMS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03504" y="38039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Counterparty, Book &amp; Market / Zone (e.g. Chelan County PUD No. 1 · BPAT / MID‑C).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23260" y="3401568"/>
            <a:ext cx="26974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69564" y="3511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LINK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369564" y="38039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Product tied back to its linked e‑Tag (AWS2590) — full lineage.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3401568"/>
            <a:ext cx="26974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135624" y="3511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PROFILE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135624" y="380390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Baseload shape, −180 MW, rendered as a 24‑hour MW bar profile.</a:t>
            </a:r>
            <a:endParaRPr lang="en-US" sz="1100" dirty="0"/>
          </a:p>
        </p:txBody>
      </p:sp>
      <p:pic>
        <p:nvPicPr>
          <p:cNvPr id="16" name="Image 2" descr="img/oati_logo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566928" cy="3168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confidential. Do not copy without permission from OATI.   © 2026 Open Access Technology International, Inc.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pic>
        <p:nvPicPr>
          <p:cNvPr id="3" name="Image 0" descr="img/ic_poi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489204"/>
            <a:ext cx="265176" cy="26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657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Model — Hover &amp; Click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60704" y="758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keeps a dense grid readable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1207008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" y="1353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E7490"/>
          </a:solidFill>
          <a:ln/>
        </p:spPr>
      </p:sp>
      <p:pic>
        <p:nvPicPr>
          <p:cNvPr id="8" name="Image 1" descr="img/ic_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1421892"/>
            <a:ext cx="173736" cy="1737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3350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 →  QUICK PEEK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03504" y="1824228"/>
            <a:ext cx="100584" cy="10058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174650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 Tag Code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an instant Physical e‑Tag tooltip.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" y="2226564"/>
            <a:ext cx="100584" cy="100584"/>
          </a:xfrm>
          <a:prstGeom prst="ellipse">
            <a:avLst/>
          </a:prstGeom>
          <a:solidFill>
            <a:srgbClr val="1A8A5A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21488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At‑a‑glance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Source/Sink, POR/POD, Location, A/B split, Status.</a:t>
            </a:r>
            <a:endParaRPr lang="en-US" sz="1100" dirty="0"/>
          </a:p>
        </p:txBody>
      </p:sp>
      <p:pic>
        <p:nvPicPr>
          <p:cNvPr id="14" name="Image 2" descr="img/ho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178" y="2615184"/>
            <a:ext cx="2093405" cy="201168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4663440" y="1207008"/>
            <a:ext cx="40233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5400000">
              <a:srgbClr val="64748B">
                <a:alpha val="2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809744" y="13533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A8A5A"/>
          </a:solidFill>
          <a:ln/>
        </p:spPr>
      </p:sp>
      <p:pic>
        <p:nvPicPr>
          <p:cNvPr id="17" name="Image 3" descr="img/ic_poin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1421892"/>
            <a:ext cx="173736" cy="1737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93792" y="133502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 →  FULL DETAIL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809744" y="1824228"/>
            <a:ext cx="100584" cy="100584"/>
          </a:xfrm>
          <a:prstGeom prst="ellipse">
            <a:avLst/>
          </a:prstGeom>
          <a:solidFill>
            <a:srgbClr val="1A8A5A"/>
          </a:solidFill>
          <a:ln/>
        </p:spPr>
      </p:sp>
      <p:sp>
        <p:nvSpPr>
          <p:cNvPr id="20" name="Text 14"/>
          <p:cNvSpPr/>
          <p:nvPr/>
        </p:nvSpPr>
        <p:spPr>
          <a:xfrm>
            <a:off x="5029200" y="174650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 / deal #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 full detail panel slides in.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809744" y="2226564"/>
            <a:ext cx="100584" cy="10058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16"/>
          <p:cNvSpPr/>
          <p:nvPr/>
        </p:nvSpPr>
        <p:spPr>
          <a:xfrm>
            <a:off x="5029200" y="21488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deep‑dive</a:t>
            </a:r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Allocation, Sale Parameters &amp; 24‑hr profile; Accept / Reject inline.</a:t>
            </a:r>
            <a:endParaRPr lang="en-US" sz="1100" dirty="0"/>
          </a:p>
        </p:txBody>
      </p:sp>
      <p:pic>
        <p:nvPicPr>
          <p:cNvPr id="23" name="Image 4" descr="img/detail_s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3163547"/>
            <a:ext cx="3730752" cy="1079546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1A1A2E">
                <a:alpha val="28000"/>
              </a:srgbClr>
            </a:outerShdw>
          </a:effectLst>
        </p:spPr>
      </p:pic>
      <p:pic>
        <p:nvPicPr>
          <p:cNvPr id="24" name="Image 5" descr="img/oati_logo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274320"/>
            <a:ext cx="566928" cy="31681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and confidential. Do not copy without permission from OATI.   © 2026 Open Access Technology International, Inc.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2026-07-21T11:09:31Z</dcterms:created>
  <dcterms:modified xsi:type="dcterms:W3CDTF">2026-07-21T11:09:31Z</dcterms:modified>
</cp:coreProperties>
</file>